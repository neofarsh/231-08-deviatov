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CCF0"/>
    <a:srgbClr val="418AB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>
        <p:scale>
          <a:sx n="125" d="100"/>
          <a:sy n="125" d="100"/>
        </p:scale>
        <p:origin x="1512" y="9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9295C-1C7B-4648-87F0-42E1ABBAE4B3}" type="datetimeFigureOut">
              <a:rPr lang="ru-RU" smtClean="0"/>
              <a:t>10.04.2025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6308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5000" advClick="0">
        <p14:vortex/>
      </p:transition>
    </mc:Choice>
    <mc:Fallback xmlns="">
      <p:transition spd="slow" advClick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9295C-1C7B-4648-87F0-42E1ABBAE4B3}" type="datetimeFigureOut">
              <a:rPr lang="ru-RU" smtClean="0"/>
              <a:t>10.04.2025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7870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Click="0">
        <p14:vortex/>
      </p:transition>
    </mc:Choice>
    <mc:Fallback xmlns="">
      <p:transition spd="slow" advClick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9295C-1C7B-4648-87F0-42E1ABBAE4B3}" type="datetimeFigureOut">
              <a:rPr lang="ru-RU" smtClean="0"/>
              <a:t>10.04.2025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65485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5000" advClick="0">
        <p14:vortex/>
      </p:transition>
    </mc:Choice>
    <mc:Fallback xmlns="">
      <p:transition spd="slow" advClick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9295C-1C7B-4648-87F0-42E1ABBAE4B3}" type="datetimeFigureOut">
              <a:rPr lang="ru-RU" smtClean="0"/>
              <a:t>10.04.2025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077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Click="0">
        <p14:vortex/>
      </p:transition>
    </mc:Choice>
    <mc:Fallback xmlns="">
      <p:transition spd="slow" advClick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9295C-1C7B-4648-87F0-42E1ABBAE4B3}" type="datetimeFigureOut">
              <a:rPr lang="ru-RU" smtClean="0"/>
              <a:t>10.04.2025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209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Click="0">
        <p14:vortex/>
      </p:transition>
    </mc:Choice>
    <mc:Fallback xmlns="">
      <p:transition spd="slow" advClick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9295C-1C7B-4648-87F0-42E1ABBAE4B3}" type="datetimeFigureOut">
              <a:rPr lang="ru-RU" smtClean="0"/>
              <a:t>10.04.2025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3115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Click="0">
        <p14:vortex/>
      </p:transition>
    </mc:Choice>
    <mc:Fallback xmlns="">
      <p:transition spd="slow" advClick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9295C-1C7B-4648-87F0-42E1ABBAE4B3}" type="datetimeFigureOut">
              <a:rPr lang="ru-RU" smtClean="0"/>
              <a:t>10.04.2025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2916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Click="0">
        <p14:vortex/>
      </p:transition>
    </mc:Choice>
    <mc:Fallback xmlns="">
      <p:transition spd="slow" advClick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9295C-1C7B-4648-87F0-42E1ABBAE4B3}" type="datetimeFigureOut">
              <a:rPr lang="ru-RU" smtClean="0"/>
              <a:t>10.04.2025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6184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Click="0">
        <p14:vortex/>
      </p:transition>
    </mc:Choice>
    <mc:Fallback xmlns="">
      <p:transition spd="slow" advClick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E139295C-1C7B-4648-87F0-42E1ABBAE4B3}" type="datetimeFigureOut">
              <a:rPr lang="ru-RU" smtClean="0"/>
              <a:t>10.04.2025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0156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Click="0">
        <p14:vortex/>
      </p:transition>
    </mc:Choice>
    <mc:Fallback xmlns="">
      <p:transition spd="slow" advClick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9295C-1C7B-4648-87F0-42E1ABBAE4B3}" type="datetimeFigureOut">
              <a:rPr lang="ru-RU" smtClean="0"/>
              <a:t>10.04.2025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7331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Click="0">
        <p14:vortex/>
      </p:transition>
    </mc:Choice>
    <mc:Fallback xmlns="">
      <p:transition spd="slow" advClick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9295C-1C7B-4648-87F0-42E1ABBAE4B3}" type="datetimeFigureOut">
              <a:rPr lang="ru-RU" smtClean="0"/>
              <a:t>10.04.2025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3746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Click="0">
        <p14:vortex/>
      </p:transition>
    </mc:Choice>
    <mc:Fallback xmlns="">
      <p:transition spd="slow" advClick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E139295C-1C7B-4648-87F0-42E1ABBAE4B3}" type="datetimeFigureOut">
              <a:rPr lang="ru-RU" smtClean="0"/>
              <a:t>10.04.2025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148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mc:AlternateContent xmlns:mc="http://schemas.openxmlformats.org/markup-compatibility/2006" xmlns:p14="http://schemas.microsoft.com/office/powerpoint/2010/main">
    <mc:Choice Requires="p14">
      <p:transition spd="slow" p14:dur="5000" advClick="0">
        <p14:vortex/>
      </p:transition>
    </mc:Choice>
    <mc:Fallback xmlns="">
      <p:transition spd="slow" advClick="0">
        <p:fade/>
      </p:transition>
    </mc:Fallback>
  </mc:AlternateConten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C8799B-6D1C-4B1E-B19D-F2A3280585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83" y="1243584"/>
            <a:ext cx="11903242" cy="3114902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ru-RU" dirty="0"/>
              <a:t>Курсовая работа</a:t>
            </a:r>
            <a:br>
              <a:rPr lang="ru-RU" dirty="0"/>
            </a:br>
            <a:r>
              <a:rPr lang="ru-RU" b="1" dirty="0"/>
              <a:t>ТЕМА: «Социальная сеть – для общения и взаимодействия между пользователями»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8CFA52D-E3FC-41CD-90D2-6F3F593890B8}"/>
              </a:ext>
            </a:extLst>
          </p:cNvPr>
          <p:cNvSpPr txBox="1">
            <a:spLocks/>
          </p:cNvSpPr>
          <p:nvPr/>
        </p:nvSpPr>
        <p:spPr>
          <a:xfrm>
            <a:off x="146384" y="115304"/>
            <a:ext cx="11903242" cy="886631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404040"/>
            </a:solidFill>
            <a:miter lim="800000"/>
          </a:ln>
        </p:spPr>
        <p:txBody>
          <a:bodyPr vert="horz" lIns="274320" tIns="182880" rIns="274320" bIns="182880" rtlCol="0" anchor="ctr" anchorCtr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ru-RU" sz="1400" b="1" spc="0" dirty="0">
                <a:latin typeface="+mn-lt"/>
                <a:cs typeface="Arial" panose="020B0604020202020204" pitchFamily="34" charset="0"/>
              </a:rPr>
              <a:t>Санкт-петербургское государственное бюджетное профессиональное образовательное учреждение</a:t>
            </a:r>
          </a:p>
          <a:p>
            <a:pPr>
              <a:lnSpc>
                <a:spcPct val="120000"/>
              </a:lnSpc>
            </a:pPr>
            <a:r>
              <a:rPr lang="ru-RU" sz="1400" b="1" spc="0" dirty="0">
                <a:latin typeface="+mn-lt"/>
                <a:cs typeface="Arial" panose="020B0604020202020204" pitchFamily="34" charset="0"/>
              </a:rPr>
              <a:t>«Ижорский политехнический колледж»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D8A7F3A-CBA1-45AC-843B-C0D8F7C2B37C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174" y="285057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8681F9A7-EB38-4E88-9F25-C7687863235B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6826" y="285057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FCBF1417-9BD1-41FB-B001-214A78435DBC}"/>
              </a:ext>
            </a:extLst>
          </p:cNvPr>
          <p:cNvSpPr txBox="1">
            <a:spLocks/>
          </p:cNvSpPr>
          <p:nvPr/>
        </p:nvSpPr>
        <p:spPr>
          <a:xfrm>
            <a:off x="6095999" y="4600135"/>
            <a:ext cx="5949617" cy="2142560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404040"/>
            </a:solidFill>
            <a:miter lim="800000"/>
          </a:ln>
        </p:spPr>
        <p:txBody>
          <a:bodyPr vert="horz" lIns="118800" tIns="118800" rIns="118800" bIns="11880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ru-RU" sz="2000" spc="0" dirty="0">
                <a:latin typeface="+mn-lt"/>
              </a:rPr>
              <a:t>Руководитель:</a:t>
            </a:r>
          </a:p>
          <a:p>
            <a:pPr algn="l">
              <a:lnSpc>
                <a:spcPct val="150000"/>
              </a:lnSpc>
            </a:pPr>
            <a:r>
              <a:rPr lang="ru-RU" sz="2000" spc="0" dirty="0">
                <a:latin typeface="+mn-lt"/>
              </a:rPr>
              <a:t>Преподаватель спец. Дисциплин</a:t>
            </a:r>
          </a:p>
          <a:p>
            <a:pPr algn="l">
              <a:lnSpc>
                <a:spcPct val="150000"/>
              </a:lnSpc>
            </a:pPr>
            <a:r>
              <a:rPr lang="ru-RU" sz="2000" spc="0" dirty="0">
                <a:latin typeface="+mn-lt"/>
              </a:rPr>
              <a:t>по специальности 09.02.07</a:t>
            </a:r>
          </a:p>
          <a:p>
            <a:pPr algn="l">
              <a:lnSpc>
                <a:spcPct val="150000"/>
              </a:lnSpc>
            </a:pPr>
            <a:r>
              <a:rPr lang="ru-RU" sz="2000" spc="0" dirty="0">
                <a:latin typeface="+mn-lt"/>
              </a:rPr>
              <a:t>Венедиктов Дмитрий Викторович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5520369F-0405-4705-AEC0-6B1E04846B84}"/>
              </a:ext>
            </a:extLst>
          </p:cNvPr>
          <p:cNvSpPr txBox="1">
            <a:spLocks/>
          </p:cNvSpPr>
          <p:nvPr/>
        </p:nvSpPr>
        <p:spPr>
          <a:xfrm>
            <a:off x="146383" y="4600135"/>
            <a:ext cx="5949618" cy="2142560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404040"/>
            </a:solidFill>
            <a:miter lim="800000"/>
          </a:ln>
        </p:spPr>
        <p:txBody>
          <a:bodyPr vert="horz" lIns="118800" tIns="118800" rIns="118800" bIns="11880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ru-RU" sz="2000" spc="0" dirty="0">
                <a:latin typeface="+mn-lt"/>
              </a:rPr>
              <a:t>Выполнил Студент группы 231С</a:t>
            </a:r>
          </a:p>
          <a:p>
            <a:pPr algn="l">
              <a:lnSpc>
                <a:spcPct val="150000"/>
              </a:lnSpc>
            </a:pPr>
            <a:r>
              <a:rPr lang="ru-RU" sz="2000" spc="0" dirty="0">
                <a:latin typeface="+mn-lt"/>
              </a:rPr>
              <a:t>Девятов </a:t>
            </a:r>
            <a:r>
              <a:rPr lang="ru-RU" sz="2000" spc="0" dirty="0" err="1">
                <a:latin typeface="+mn-lt"/>
              </a:rPr>
              <a:t>д.а</a:t>
            </a:r>
            <a:r>
              <a:rPr lang="ru-RU" sz="2000" spc="0" dirty="0"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25838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000" advClick="0">
        <p15:prstTrans prst="airplane"/>
        <p:sndAc>
          <p:stSnd>
            <p:snd r:embed="rId2" name="intro.wav"/>
          </p:stSnd>
        </p:sndAc>
      </p:transition>
    </mc:Choice>
    <mc:Fallback xmlns="">
      <p:transition spd="slow" advClick="0">
        <p:fade/>
        <p:sndAc>
          <p:stSnd>
            <p:snd r:embed="rId4" name="intro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pc="0" dirty="0"/>
              <a:t>Актуальность разрабатываемого веб-приложения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6411" y="1381787"/>
            <a:ext cx="5939589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b="1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dirty="0"/>
              <a:t> Создание современной и удобной социальной сети для пользователей.</a:t>
            </a:r>
          </a:p>
          <a:p>
            <a:pPr algn="l"/>
            <a:endParaRPr lang="ru-RU" sz="24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dirty="0"/>
              <a:t> Возможность изучения технологий баз данных, авторизации и защиты информации.</a:t>
            </a:r>
          </a:p>
          <a:p>
            <a:pPr algn="l"/>
            <a:endParaRPr lang="ru-RU" sz="24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dirty="0"/>
              <a:t> Актуальность социальных сетей в повседневной жизни — для общения, работы и учёбы.</a:t>
            </a:r>
          </a:p>
          <a:p>
            <a:pPr>
              <a:lnSpc>
                <a:spcPct val="100000"/>
              </a:lnSpc>
            </a:pPr>
            <a:endParaRPr lang="ru-RU" spc="0" dirty="0">
              <a:latin typeface="+mn-lt"/>
            </a:endParaRP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9B5E7B46-4DB4-48C9-ABB4-0B33696B715A}"/>
              </a:ext>
            </a:extLst>
          </p:cNvPr>
          <p:cNvSpPr txBox="1">
            <a:spLocks/>
          </p:cNvSpPr>
          <p:nvPr/>
        </p:nvSpPr>
        <p:spPr>
          <a:xfrm flipV="1">
            <a:off x="6095999" y="1381787"/>
            <a:ext cx="5939589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ru-RU" spc="0" dirty="0"/>
          </a:p>
        </p:txBody>
      </p:sp>
      <p:pic>
        <p:nvPicPr>
          <p:cNvPr id="1031" name="Picture 7" descr="Пять прогнозов развития соцсетей | РБК Тренды">
            <a:extLst>
              <a:ext uri="{FF2B5EF4-FFF2-40B4-BE49-F238E27FC236}">
                <a16:creationId xmlns:a16="http://schemas.microsoft.com/office/drawing/2014/main" id="{F404E256-8791-4C55-B610-4A47BA7E1A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2" r="19414"/>
          <a:stretch/>
        </p:blipFill>
        <p:spPr bwMode="auto">
          <a:xfrm>
            <a:off x="6153149" y="1436525"/>
            <a:ext cx="5822952" cy="5274334"/>
          </a:xfrm>
          <a:prstGeom prst="rect">
            <a:avLst/>
          </a:prstGeom>
          <a:ln w="28575"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8362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>
        <p14:prism isContent="1"/>
      </p:transition>
    </mc:Choice>
    <mc:Fallback xmlns="">
      <p:transition spd="slow" advClick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pc="0" dirty="0"/>
              <a:t>Цели и задачи курсовой работы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4059936" y="1402001"/>
            <a:ext cx="7977659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400" b="1" dirty="0"/>
              <a:t>Мои Цели:</a:t>
            </a:r>
            <a:endParaRPr lang="ru-RU" sz="24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dirty="0"/>
              <a:t> Разработка безопасной и функциональной базы данных для социальной сети.</a:t>
            </a:r>
          </a:p>
          <a:p>
            <a:pPr algn="l"/>
            <a:endParaRPr lang="ru-RU" sz="2400" dirty="0"/>
          </a:p>
          <a:p>
            <a:pPr algn="l"/>
            <a:r>
              <a:rPr lang="ru-RU" sz="2400" b="1" dirty="0"/>
              <a:t>Мои Задачи:</a:t>
            </a:r>
            <a:endParaRPr lang="ru-RU" sz="24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dirty="0"/>
              <a:t> Проанализировать предметную область и существующие технологии.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dirty="0"/>
              <a:t> Спроектировать структуру базы данных.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dirty="0"/>
              <a:t> Реализовать авторизацию и защиту пользовательских данных.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dirty="0"/>
              <a:t> Настроить резервное копирование и безопасность.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dirty="0"/>
              <a:t> Протестировать систему и оценить её эффективность.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B6C8F07-21E0-402F-B5A9-092C7682F932}"/>
              </a:ext>
            </a:extLst>
          </p:cNvPr>
          <p:cNvSpPr txBox="1">
            <a:spLocks/>
          </p:cNvSpPr>
          <p:nvPr/>
        </p:nvSpPr>
        <p:spPr>
          <a:xfrm flipV="1">
            <a:off x="156412" y="1402001"/>
            <a:ext cx="3923420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ru-RU" spc="0" dirty="0"/>
          </a:p>
        </p:txBody>
      </p:sp>
    </p:spTree>
    <p:extLst>
      <p:ext uri="{BB962C8B-B14F-4D97-AF65-F5344CB8AC3E}">
        <p14:creationId xmlns:p14="http://schemas.microsoft.com/office/powerpoint/2010/main" val="1921124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dir="u" isContent="1"/>
      </p:transition>
    </mc:Choice>
    <mc:Fallback xmlns="">
      <p:transition spd="slow" advClick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pc="0" dirty="0"/>
              <a:t>Программные средства И СРЕДЫ для разработки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6411" y="1381787"/>
            <a:ext cx="11881184" cy="3266413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ru-RU" sz="2400" b="1" dirty="0"/>
              <a:t>СУБД:</a:t>
            </a:r>
            <a:r>
              <a:rPr lang="ru-RU" sz="2400" dirty="0"/>
              <a:t> </a:t>
            </a:r>
            <a:r>
              <a:rPr lang="en-US" sz="2400" dirty="0"/>
              <a:t>MySQL</a:t>
            </a:r>
          </a:p>
          <a:p>
            <a:pPr algn="l">
              <a:lnSpc>
                <a:spcPct val="100000"/>
              </a:lnSpc>
            </a:pPr>
            <a:r>
              <a:rPr lang="ru-RU" sz="2400" b="1" dirty="0"/>
              <a:t>Языки программирования:</a:t>
            </a:r>
            <a:r>
              <a:rPr lang="ru-RU" sz="2400" dirty="0"/>
              <a:t> </a:t>
            </a:r>
            <a:r>
              <a:rPr lang="en-US" sz="2400" dirty="0"/>
              <a:t>SQL, Java</a:t>
            </a:r>
          </a:p>
          <a:p>
            <a:pPr algn="l">
              <a:lnSpc>
                <a:spcPct val="100000"/>
              </a:lnSpc>
            </a:pPr>
            <a:r>
              <a:rPr lang="ru-RU" sz="2400" b="1" dirty="0"/>
              <a:t>Проектирование базы данных:</a:t>
            </a:r>
            <a:r>
              <a:rPr lang="ru-RU" sz="2400" dirty="0"/>
              <a:t> </a:t>
            </a:r>
            <a:r>
              <a:rPr lang="en-US" sz="2400" dirty="0" err="1"/>
              <a:t>Lucidchart</a:t>
            </a:r>
            <a:r>
              <a:rPr lang="en-US" sz="2400" dirty="0"/>
              <a:t>, Liquibase</a:t>
            </a:r>
          </a:p>
          <a:p>
            <a:pPr algn="l">
              <a:lnSpc>
                <a:spcPct val="100000"/>
              </a:lnSpc>
            </a:pPr>
            <a:r>
              <a:rPr lang="ru-RU" sz="2400" b="1" dirty="0"/>
              <a:t>Безопасность:</a:t>
            </a:r>
            <a:r>
              <a:rPr lang="ru-RU" sz="2400" dirty="0"/>
              <a:t> </a:t>
            </a:r>
            <a:r>
              <a:rPr lang="en-US" sz="2400" dirty="0"/>
              <a:t>Vormetric (</a:t>
            </a:r>
            <a:r>
              <a:rPr lang="ru-RU" sz="2400" dirty="0"/>
              <a:t>шифрование), </a:t>
            </a:r>
            <a:r>
              <a:rPr lang="en-US" sz="2400" dirty="0"/>
              <a:t>Splunk (</a:t>
            </a:r>
            <a:r>
              <a:rPr lang="ru-RU" sz="2400" dirty="0"/>
              <a:t>аудит)</a:t>
            </a:r>
          </a:p>
          <a:p>
            <a:pPr algn="l">
              <a:lnSpc>
                <a:spcPct val="100000"/>
              </a:lnSpc>
            </a:pPr>
            <a:r>
              <a:rPr lang="ru-RU" sz="2400" b="1" dirty="0"/>
              <a:t>Контейнеризация:</a:t>
            </a:r>
            <a:r>
              <a:rPr lang="ru-RU" sz="2400" dirty="0"/>
              <a:t> </a:t>
            </a:r>
            <a:r>
              <a:rPr lang="en-US" sz="2400" dirty="0"/>
              <a:t>Docker</a:t>
            </a:r>
          </a:p>
          <a:p>
            <a:pPr algn="l">
              <a:lnSpc>
                <a:spcPct val="100000"/>
              </a:lnSpc>
            </a:pPr>
            <a:r>
              <a:rPr lang="ru-RU" sz="2400" b="1" dirty="0"/>
              <a:t>Управление версиями:</a:t>
            </a:r>
            <a:r>
              <a:rPr lang="ru-RU" sz="2400" dirty="0"/>
              <a:t> </a:t>
            </a:r>
            <a:r>
              <a:rPr lang="en-US" sz="2400" dirty="0"/>
              <a:t>Git</a:t>
            </a:r>
          </a:p>
          <a:p>
            <a:pPr algn="l">
              <a:lnSpc>
                <a:spcPct val="100000"/>
              </a:lnSpc>
            </a:pPr>
            <a:r>
              <a:rPr lang="ru-RU" sz="2400" b="1" dirty="0"/>
              <a:t>Фреймворк:</a:t>
            </a:r>
            <a:r>
              <a:rPr lang="ru-RU" sz="2400" dirty="0"/>
              <a:t> </a:t>
            </a:r>
            <a:r>
              <a:rPr lang="en-US" sz="2400" dirty="0"/>
              <a:t>Hibernate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F60AF039-2653-48D1-874E-F543094E1516}"/>
              </a:ext>
            </a:extLst>
          </p:cNvPr>
          <p:cNvSpPr txBox="1">
            <a:spLocks/>
          </p:cNvSpPr>
          <p:nvPr/>
        </p:nvSpPr>
        <p:spPr>
          <a:xfrm>
            <a:off x="154405" y="4648200"/>
            <a:ext cx="11881184" cy="2117397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400" b="1" dirty="0"/>
              <a:t>MySQL </a:t>
            </a:r>
            <a:r>
              <a:rPr lang="ru-RU" sz="2400" b="1" dirty="0" err="1"/>
              <a:t>Workbench</a:t>
            </a:r>
            <a:r>
              <a:rPr lang="ru-RU" sz="2400" dirty="0"/>
              <a:t> — среда для работы с базой данных</a:t>
            </a:r>
          </a:p>
          <a:p>
            <a:pPr algn="l"/>
            <a:r>
              <a:rPr lang="ru-RU" sz="2400" b="1" dirty="0"/>
              <a:t>PHP + MySQL</a:t>
            </a:r>
            <a:r>
              <a:rPr lang="ru-RU" sz="2400" dirty="0"/>
              <a:t> — для реализации регистрации и авторизации пользователей</a:t>
            </a:r>
            <a:endParaRPr lang="en-US" sz="2400" dirty="0"/>
          </a:p>
          <a:p>
            <a:pPr algn="l"/>
            <a:endParaRPr lang="en-US" sz="2400" spc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70275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14:prism dir="r" isContent="1"/>
      </p:transition>
    </mc:Choice>
    <mc:Fallback xmlns="">
      <p:transition spd="slow" advClick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pc="0" dirty="0"/>
              <a:t>Интерфейс веб-приложения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6411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ru-RU" spc="0" dirty="0">
              <a:latin typeface="+mn-lt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78AE75A-AA42-415F-A01E-600850518E1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33"/>
          <a:stretch/>
        </p:blipFill>
        <p:spPr>
          <a:xfrm>
            <a:off x="243840" y="1514365"/>
            <a:ext cx="7258594" cy="511865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1359366-B7E6-4622-B73A-6E4B747C37E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48"/>
          <a:stretch/>
        </p:blipFill>
        <p:spPr>
          <a:xfrm>
            <a:off x="7502434" y="1514365"/>
            <a:ext cx="4433462" cy="5118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030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>
        <p14:prism isContent="1"/>
      </p:transition>
    </mc:Choice>
    <mc:Fallback xmlns="">
      <p:transition spd="slow" advClick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pc="0" dirty="0"/>
              <a:t>Логика работы веб-приложения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6411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pc="0" dirty="0">
                <a:latin typeface="+mn-lt"/>
              </a:rPr>
              <a:t>ИНФОРМАЦИЯ</a:t>
            </a:r>
          </a:p>
        </p:txBody>
      </p:sp>
    </p:spTree>
    <p:extLst>
      <p:ext uri="{BB962C8B-B14F-4D97-AF65-F5344CB8AC3E}">
        <p14:creationId xmlns:p14="http://schemas.microsoft.com/office/powerpoint/2010/main" val="1615474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dir="u" isContent="1"/>
      </p:transition>
    </mc:Choice>
    <mc:Fallback xmlns="">
      <p:transition spd="slow" advClick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pc="0" dirty="0"/>
              <a:t>Логика работы Подключаемой базы данных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6411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pc="0" dirty="0">
                <a:latin typeface="+mn-lt"/>
              </a:rPr>
              <a:t>ИНФОРМАЦИЯ</a:t>
            </a:r>
          </a:p>
        </p:txBody>
      </p:sp>
    </p:spTree>
    <p:extLst>
      <p:ext uri="{BB962C8B-B14F-4D97-AF65-F5344CB8AC3E}">
        <p14:creationId xmlns:p14="http://schemas.microsoft.com/office/powerpoint/2010/main" val="688828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14:prism dir="r" isContent="1"/>
      </p:transition>
    </mc:Choice>
    <mc:Fallback xmlns="">
      <p:transition spd="slow" advClick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pc="0" dirty="0"/>
              <a:t>Возможное применение разработанного веб-приложения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6411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pc="0" dirty="0">
                <a:latin typeface="+mn-lt"/>
              </a:rPr>
              <a:t>ИНФОРМАЦИЯ</a:t>
            </a:r>
          </a:p>
        </p:txBody>
      </p:sp>
    </p:spTree>
    <p:extLst>
      <p:ext uri="{BB962C8B-B14F-4D97-AF65-F5344CB8AC3E}">
        <p14:creationId xmlns:p14="http://schemas.microsoft.com/office/powerpoint/2010/main" val="1022732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14:prism dir="d" isContent="1"/>
      </p:transition>
    </mc:Choice>
    <mc:Fallback xmlns="">
      <p:transition spd="slow" advClick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C8799B-6D1C-4B1E-B19D-F2A3280585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83" y="940499"/>
            <a:ext cx="11903242" cy="5802196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ru-RU" dirty="0"/>
              <a:t>Ответы на вопросы комиссии</a:t>
            </a:r>
            <a:endParaRPr lang="ru-RU" b="1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8CFA52D-E3FC-41CD-90D2-6F3F593890B8}"/>
              </a:ext>
            </a:extLst>
          </p:cNvPr>
          <p:cNvSpPr txBox="1">
            <a:spLocks/>
          </p:cNvSpPr>
          <p:nvPr/>
        </p:nvSpPr>
        <p:spPr>
          <a:xfrm>
            <a:off x="146384" y="115304"/>
            <a:ext cx="11903242" cy="612607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404040"/>
            </a:solidFill>
            <a:miter lim="800000"/>
          </a:ln>
        </p:spPr>
        <p:txBody>
          <a:bodyPr vert="horz" lIns="274320" tIns="182880" rIns="274320" bIns="182880" rtlCol="0" anchor="ctr" anchorCtr="1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ru-RU" b="1" spc="0" dirty="0">
                <a:latin typeface="+mn-lt"/>
                <a:cs typeface="Arial" panose="020B0604020202020204" pitchFamily="34" charset="0"/>
              </a:rPr>
              <a:t>Санкт-петербургское государственное бюджетное профессиональное образовательное учреждение</a:t>
            </a:r>
          </a:p>
          <a:p>
            <a:pPr>
              <a:lnSpc>
                <a:spcPct val="120000"/>
              </a:lnSpc>
            </a:pPr>
            <a:endParaRPr lang="ru-RU" b="1" spc="0" dirty="0"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ru-RU" b="1" spc="0" dirty="0">
                <a:latin typeface="+mn-lt"/>
                <a:cs typeface="Arial" panose="020B0604020202020204" pitchFamily="34" charset="0"/>
              </a:rPr>
              <a:t>«Ижорский политехнический колледж»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D8A7F3A-CBA1-45AC-843B-C0D8F7C2B37C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486" y="151400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8681F9A7-EB38-4E88-9F25-C7687863235B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099" y="153401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3170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>
        <p14:prism isContent="1"/>
      </p:transition>
    </mc:Choice>
    <mc:Fallback xmlns="">
      <p:transition spd="slow" advClick="0">
        <p:fade/>
      </p:transition>
    </mc:Fallback>
  </mc:AlternateContent>
</p:sld>
</file>

<file path=ppt/theme/theme1.xml><?xml version="1.0" encoding="utf-8"?>
<a:theme xmlns:a="http://schemas.openxmlformats.org/drawingml/2006/main" name="Посылка">
  <a:themeElements>
    <a:clrScheme name="Посылка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Посылка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Посылка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TM03457475[[fn=Рамка]]</Template>
  <TotalTime>237</TotalTime>
  <Words>240</Words>
  <Application>Microsoft Office PowerPoint</Application>
  <PresentationFormat>Широкоэкранный</PresentationFormat>
  <Paragraphs>47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Corbel</vt:lpstr>
      <vt:lpstr>Gill Sans MT</vt:lpstr>
      <vt:lpstr>Посылка</vt:lpstr>
      <vt:lpstr>Курсовая работа ТЕМА: «Социальная сеть – для общения и взаимодействия между пользователями»</vt:lpstr>
      <vt:lpstr>Актуальность разрабатываемого веб-приложения</vt:lpstr>
      <vt:lpstr>Цели и задачи курсовой работы</vt:lpstr>
      <vt:lpstr>Программные средства И СРЕДЫ для разработки</vt:lpstr>
      <vt:lpstr>Интерфейс веб-приложения</vt:lpstr>
      <vt:lpstr>Логика работы веб-приложения</vt:lpstr>
      <vt:lpstr>Логика работы Подключаемой базы данных</vt:lpstr>
      <vt:lpstr>Возможное применение разработанного веб-приложения</vt:lpstr>
      <vt:lpstr>Ответы на вопросы комиссии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Teacher</dc:creator>
  <cp:lastModifiedBy>ДевятовДА</cp:lastModifiedBy>
  <cp:revision>23</cp:revision>
  <dcterms:created xsi:type="dcterms:W3CDTF">2025-03-28T06:43:39Z</dcterms:created>
  <dcterms:modified xsi:type="dcterms:W3CDTF">2025-04-10T11:51:28Z</dcterms:modified>
</cp:coreProperties>
</file>